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A4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B3D6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8720C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0B3D62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806440"/>
            <a:ext cx="4937760" cy="0"/>
          </a:xfrm>
          <a:prstGeom prst="line">
            <a:avLst/>
          </a:prstGeom>
          <a:noFill/>
          <a:ln w="19050">
            <a:solidFill>
              <a:srgbClr val="44607A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5952744"/>
            <a:ext cx="4937760" cy="0"/>
          </a:xfrm>
          <a:prstGeom prst="line">
            <a:avLst/>
          </a:prstGeom>
          <a:noFill/>
          <a:ln w="19050">
            <a:solidFill>
              <a:srgbClr val="44607A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5760720"/>
            <a:ext cx="0" cy="237744"/>
          </a:xfrm>
          <a:prstGeom prst="line">
            <a:avLst/>
          </a:prstGeom>
          <a:noFill/>
          <a:ln w="15240">
            <a:solidFill>
              <a:srgbClr val="44607A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RAILWAY INDUSTRY  •  BUSINESS INTELLIGENCE PROJECT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5146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Performance &amp;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Command Center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22960" y="4434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MySQL + Power BI analytics solution for monitoring train punctuality, delays, cancellations, revenue, and operational performance across zones, routes, and stations.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440680"/>
            <a:ext cx="3108960" cy="0"/>
          </a:xfrm>
          <a:prstGeom prst="line">
            <a:avLst/>
          </a:prstGeom>
          <a:noFill/>
          <a:ln w="25400">
            <a:solidFill>
              <a:srgbClr val="E872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 ·   Power BI   ·   Power Query ETL   ·   DAX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5074920"/>
          </a:xfrm>
          <a:prstGeom prst="roundRect">
            <a:avLst>
              <a:gd name="adj" fmla="val 1802"/>
            </a:avLst>
          </a:prstGeom>
          <a:solidFill>
            <a:srgbClr val="EAF2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5727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and BI project built to monitor railway operations, passenger activity, revenue, punctuality, delays, and cancellations — converting operational data into an interactive Power BI command center.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follows a complete workflow: data preparation, MySQL database design, ETL &amp; cleaning, Power BI connectivity, DAX calculations, dashboard development, and insight generation.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Indian Railway Industry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394960" cy="5074920"/>
          </a:xfrm>
          <a:prstGeom prst="roundRect">
            <a:avLst>
              <a:gd name="adj" fmla="val 1802"/>
            </a:avLst>
          </a:prstGeom>
          <a:solidFill>
            <a:srgbClr val="0B3D62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1554480"/>
            <a:ext cx="457200" cy="45720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15727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148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operations generate huge volumes of data on schedules, routes, stations, passengers, revenue, delays, and cancellations — spread across separate datasets and reviewed manually.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520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difficult to spot recurring delays, high-impact routes, underperforming stations, and cancellation patterns in time to act.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4709160"/>
            <a:ext cx="4480560" cy="0"/>
          </a:xfrm>
          <a:prstGeom prst="line">
            <a:avLst/>
          </a:prstGeom>
          <a:noFill/>
          <a:ln w="19050">
            <a:solidFill>
              <a:srgbClr val="E8720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9377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single analytical view that brings operational KPIs and detailed delay analysis together in one interactive report.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Performance &amp; Delay Command Center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008022" cy="2331720"/>
          </a:xfrm>
          <a:prstGeom prst="roundRect">
            <a:avLst>
              <a:gd name="adj" fmla="val 3643"/>
            </a:avLst>
          </a:prstGeom>
          <a:solidFill>
            <a:srgbClr val="EAF2F8"/>
          </a:solidFill>
          <a:ln/>
        </p:spPr>
      </p:sp>
      <p:sp>
        <p:nvSpPr>
          <p:cNvPr id="4" name="Shape 2"/>
          <p:cNvSpPr/>
          <p:nvPr/>
        </p:nvSpPr>
        <p:spPr>
          <a:xfrm>
            <a:off x="1260043" y="1600200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1260043" y="16002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7337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creation, table management, relationships &amp; SQL-based storage.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12694" y="1371600"/>
            <a:ext cx="2008022" cy="2331720"/>
          </a:xfrm>
          <a:prstGeom prst="roundRect">
            <a:avLst>
              <a:gd name="adj" fmla="val 3643"/>
            </a:avLst>
          </a:prstGeom>
          <a:solidFill>
            <a:srgbClr val="EAF2F8"/>
          </a:solidFill>
          <a:ln/>
        </p:spPr>
      </p:sp>
      <p:sp>
        <p:nvSpPr>
          <p:cNvPr id="9" name="Shape 7"/>
          <p:cNvSpPr/>
          <p:nvPr/>
        </p:nvSpPr>
        <p:spPr>
          <a:xfrm>
            <a:off x="3524098" y="1600200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0" name="Text 8"/>
          <p:cNvSpPr/>
          <p:nvPr/>
        </p:nvSpPr>
        <p:spPr>
          <a:xfrm>
            <a:off x="3524098" y="16002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2422" y="2331720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Desktop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49854" y="2788920"/>
            <a:ext cx="17337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interactive visualizations, dashboard development &amp; reporting.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6749" y="1371600"/>
            <a:ext cx="2008022" cy="2331720"/>
          </a:xfrm>
          <a:prstGeom prst="roundRect">
            <a:avLst>
              <a:gd name="adj" fmla="val 3643"/>
            </a:avLst>
          </a:prstGeom>
          <a:solidFill>
            <a:srgbClr val="EA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788152" y="1600200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5" name="Text 13"/>
          <p:cNvSpPr/>
          <p:nvPr/>
        </p:nvSpPr>
        <p:spPr>
          <a:xfrm>
            <a:off x="5788152" y="16002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86477" y="2331720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/ ETL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13909" y="2788920"/>
            <a:ext cx="17337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extraction, transformation, cleaning, type correction &amp; loading.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40803" y="1371600"/>
            <a:ext cx="2008022" cy="2331720"/>
          </a:xfrm>
          <a:prstGeom prst="roundRect">
            <a:avLst>
              <a:gd name="adj" fmla="val 3643"/>
            </a:avLst>
          </a:prstGeom>
          <a:solidFill>
            <a:srgbClr val="EAF2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52206" y="1600200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8052206" y="16002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0531" y="2331720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77963" y="2788920"/>
            <a:ext cx="17337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measures &amp; business KPIs — delay, on-time %, cancellation %.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04858" y="1371600"/>
            <a:ext cx="2008022" cy="2331720"/>
          </a:xfrm>
          <a:prstGeom prst="roundRect">
            <a:avLst>
              <a:gd name="adj" fmla="val 3643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16261" y="1600200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5" name="Text 23"/>
          <p:cNvSpPr/>
          <p:nvPr/>
        </p:nvSpPr>
        <p:spPr>
          <a:xfrm>
            <a:off x="10316261" y="16002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14586" y="2331720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/ CSV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42018" y="2788920"/>
            <a:ext cx="17337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dataset preparation and data exchange during the ETL process.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0B3D62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4224528"/>
            <a:ext cx="457200" cy="45720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7320" y="42336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 &amp; Source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" y="47091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railway operations dataset representing realistic Indian railway scenarios — train operations, stations, routes, passengers, revenue, delay &amp; cancellation details, travel dates, and operational attributes.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68680" y="54406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Created as synthetic project data based on real-world railway patterns — for analytics &amp; academic demonstration, not an official Indian Railways dataset. Deliberately includes data-quality issues to demonstrate a full ETL workflow.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Performance &amp; Delay Command Center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 &amp; Connecting to Power BI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railway_performance_db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916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Train_Operations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68880" y="16916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fact table — travel date, train, route, origin, destination, passengers, revenue, delay &amp; cancellation details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5760720" cy="365760"/>
          </a:xfrm>
          <a:prstGeom prst="roundRect">
            <a:avLst>
              <a:gd name="adj" fmla="val 15000"/>
            </a:avLst>
          </a:prstGeom>
          <a:solidFill>
            <a:srgbClr val="EAF2F8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58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68880" y="2258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master data — train ID, name &amp; attributes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5760720" cy="365760"/>
          </a:xfrm>
          <a:prstGeom prst="roundRect">
            <a:avLst>
              <a:gd name="adj" fmla="val 15000"/>
            </a:avLst>
          </a:prstGeom>
          <a:solidFill>
            <a:srgbClr val="EAF2F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7157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68880" y="2715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master data — station ID, name &amp; details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172968"/>
            <a:ext cx="5760720" cy="365760"/>
          </a:xfrm>
          <a:prstGeom prst="roundRect">
            <a:avLst>
              <a:gd name="adj" fmla="val 15000"/>
            </a:avLst>
          </a:prstGeom>
          <a:solidFill>
            <a:srgbClr val="EAF2F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1729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68880" y="31729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ID and route/station relationships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5760720" cy="365760"/>
          </a:xfrm>
          <a:prstGeom prst="roundRect">
            <a:avLst>
              <a:gd name="adj" fmla="val 15000"/>
            </a:avLst>
          </a:prstGeom>
          <a:solidFill>
            <a:srgbClr val="EA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630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Delay_Reasons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68880" y="3630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classification categories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13308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&amp; foreign-key relationships maintain data integrity between master and transactional tables.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1188720"/>
            <a:ext cx="5074920" cy="5120640"/>
          </a:xfrm>
          <a:prstGeom prst="roundRect">
            <a:avLst>
              <a:gd name="adj" fmla="val 1802"/>
            </a:avLst>
          </a:prstGeom>
          <a:solidFill>
            <a:srgbClr val="EAF2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46304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14813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MySQL with Power BI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903720" y="2148840"/>
            <a:ext cx="329184" cy="329184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148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212140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BI Desktop → Get Data → MySQL database connector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03720" y="2807208"/>
            <a:ext cx="329184" cy="329184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807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2779776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database server &amp; select railway_performance_db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03720" y="3465576"/>
            <a:ext cx="329184" cy="329184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465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43814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relevant railway tables (facts + master data)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03720" y="4123944"/>
            <a:ext cx="329184" cy="329184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409651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relationships between tables in the Power BI model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903720" y="4782312"/>
            <a:ext cx="329184" cy="329184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4782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0" y="47548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 database data instead of manual reports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903720" y="54864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relationship model supports analysis across train, station, route, delay reason, and operational data in one organized report.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Performance &amp; Delay Command Center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ETL, Data Cleaning &amp; DAX Measures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94610" cy="1234440"/>
          </a:xfrm>
          <a:prstGeom prst="roundRect">
            <a:avLst>
              <a:gd name="adj" fmla="val 5926"/>
            </a:avLst>
          </a:prstGeom>
          <a:solidFill>
            <a:srgbClr val="0B3D62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325880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237515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railway operational tables &amp; master tables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43250" y="1234440"/>
            <a:ext cx="228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71850" y="1234440"/>
            <a:ext cx="2594610" cy="1234440"/>
          </a:xfrm>
          <a:prstGeom prst="roundRect">
            <a:avLst>
              <a:gd name="adj" fmla="val 5926"/>
            </a:avLst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3481578" y="1325880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81578" y="1691640"/>
            <a:ext cx="237515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columns, fix data types, standardize 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66460" y="1234440"/>
            <a:ext cx="228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95060" y="1234440"/>
            <a:ext cx="2594610" cy="1234440"/>
          </a:xfrm>
          <a:prstGeom prst="roundRect">
            <a:avLst>
              <a:gd name="adj" fmla="val 5926"/>
            </a:avLst>
          </a:prstGeom>
          <a:solidFill>
            <a:srgbClr val="0B3D6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4788" y="1325880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4788" y="1691640"/>
            <a:ext cx="237515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nulls, duplicates, invalid &amp; inconsistent values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89670" y="1234440"/>
            <a:ext cx="228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18270" y="1234440"/>
            <a:ext cx="2594610" cy="1234440"/>
          </a:xfrm>
          <a:prstGeom prst="roundRect">
            <a:avLst>
              <a:gd name="adj" fmla="val 5926"/>
            </a:avLst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9127998" y="1325880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27998" y="1691640"/>
            <a:ext cx="237515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cleaned query results to the Power BI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EA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68680" y="3392424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32826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/ handled duplicate records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3767328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3657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blank &amp; null values in key fields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4142232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5" name="Text 23"/>
          <p:cNvSpPr/>
          <p:nvPr/>
        </p:nvSpPr>
        <p:spPr>
          <a:xfrm>
            <a:off x="1078992" y="40325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 — dates, numbers, %, categories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" y="4517136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44074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train, station, route &amp; reason names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8680" y="4892040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9" name="Text 27"/>
          <p:cNvSpPr/>
          <p:nvPr/>
        </p:nvSpPr>
        <p:spPr>
          <a:xfrm>
            <a:off x="1078992" y="4782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inconsistent delay/cancellation values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" y="5266944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" y="51572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primary-key &amp; foreign-key relationships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8680" y="5641848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992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outliers &amp; invalid operational values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35040" y="2697480"/>
            <a:ext cx="5623560" cy="3611880"/>
          </a:xfrm>
          <a:prstGeom prst="roundRect">
            <a:avLst>
              <a:gd name="adj" fmla="val 2532"/>
            </a:avLst>
          </a:prstGeom>
          <a:solidFill>
            <a:srgbClr val="0B3D62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DAX Measures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355080" y="333756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F4A75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337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98280" y="333756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F4A75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3337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3995928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F4A75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9959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98280" y="3995928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F4A75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98280" y="39959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4654296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F4A75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654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 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98280" y="4654296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F4A75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98280" y="4654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55080" y="5312664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F4A75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531266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Cancellations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Performance &amp; Delay Command Center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 — Pages &amp; Key Visuals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94610" cy="2606040"/>
          </a:xfrm>
          <a:prstGeom prst="roundRect">
            <a:avLst>
              <a:gd name="adj" fmla="val 3172"/>
            </a:avLst>
          </a:prstGeom>
          <a:solidFill>
            <a:srgbClr val="EAF2F8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4173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3202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32029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Operations, Passengers, Revenue, Avg Delay, ON Time %, Cancellation % + Monthly trends, Delay Reason &amp; Zone breakdowns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71850" y="1234440"/>
            <a:ext cx="2594610" cy="2606040"/>
          </a:xfrm>
          <a:prstGeom prst="roundRect">
            <a:avLst>
              <a:gd name="adj" fmla="val 3172"/>
            </a:avLst>
          </a:prstGeom>
          <a:solidFill>
            <a:srgbClr val="EAF2F8"/>
          </a:solidFill>
          <a:ln/>
        </p:spPr>
      </p:sp>
      <p:sp>
        <p:nvSpPr>
          <p:cNvPr id="9" name="Shape 7"/>
          <p:cNvSpPr/>
          <p:nvPr/>
        </p:nvSpPr>
        <p:spPr>
          <a:xfrm>
            <a:off x="3536442" y="14173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0" name="Text 8"/>
          <p:cNvSpPr/>
          <p:nvPr/>
        </p:nvSpPr>
        <p:spPr>
          <a:xfrm>
            <a:off x="353644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9010" y="1965960"/>
            <a:ext cx="23202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Performance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9010" y="2560320"/>
            <a:ext cx="232029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Train-level Avg Delay, Cancellation %, Revenue, Passengers &amp; ON Time % — Top 10 trains by each metric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5060" y="1234440"/>
            <a:ext cx="2594610" cy="2606040"/>
          </a:xfrm>
          <a:prstGeom prst="roundRect">
            <a:avLst>
              <a:gd name="adj" fmla="val 3172"/>
            </a:avLst>
          </a:prstGeom>
          <a:solidFill>
            <a:srgbClr val="EA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9652" y="14173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5" name="Text 13"/>
          <p:cNvSpPr/>
          <p:nvPr/>
        </p:nvSpPr>
        <p:spPr>
          <a:xfrm>
            <a:off x="635965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2220" y="1965960"/>
            <a:ext cx="23202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 &amp; Route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32220" y="2560320"/>
            <a:ext cx="232029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station &amp; zone analysis — Total Operations, Avg Delay, ON Time % by zone and station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18270" y="1234440"/>
            <a:ext cx="2594610" cy="2606040"/>
          </a:xfrm>
          <a:prstGeom prst="roundRect">
            <a:avLst>
              <a:gd name="adj" fmla="val 3172"/>
            </a:avLst>
          </a:prstGeom>
          <a:solidFill>
            <a:srgbClr val="EAF2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2862" y="14173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918286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55430" y="1965960"/>
            <a:ext cx="23202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&amp; Cancellation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55430" y="2560320"/>
            <a:ext cx="232029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by Hour &amp; Day of Week, Delay Reason, Cancellation Status &amp; monthly Cancellation % trend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0B3D62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Visuals Across Pages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68680" y="4764024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636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— Cancellations &amp; Operations by Month/Zone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4764024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4636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Cancellation % trend, Revenue &amp; Delay by month/hour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5541264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54132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Cancellation Status &amp; Delay Reason distribution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5541264"/>
            <a:ext cx="82296" cy="822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54132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Top 10 Stations/Routes/Trains by delay &amp; volume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Performance &amp; Delay Command Center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Filters, Key Insights &amp; Project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74720" cy="5120640"/>
          </a:xfrm>
          <a:prstGeom prst="roundRect">
            <a:avLst>
              <a:gd name="adj" fmla="val 2632"/>
            </a:avLst>
          </a:prstGeom>
          <a:solidFill>
            <a:srgbClr val="EAF2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&amp; Slicers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587752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877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Station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209544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0B3D6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954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831336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0B3D6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3133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Type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453128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0B3D6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531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Name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74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1234440"/>
            <a:ext cx="3566160" cy="5120640"/>
          </a:xfrm>
          <a:prstGeom prst="roundRect">
            <a:avLst>
              <a:gd name="adj" fmla="val 2564"/>
            </a:avLst>
          </a:prstGeom>
          <a:solidFill>
            <a:srgbClr val="0B3D62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417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80560" y="2011680"/>
            <a:ext cx="91440" cy="9144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0" name="Text 18"/>
          <p:cNvSpPr/>
          <p:nvPr/>
        </p:nvSpPr>
        <p:spPr>
          <a:xfrm>
            <a:off x="4690872" y="189280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patterns vary noticeably by hour of day and day of week, highlighting peak-risk windows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880360"/>
            <a:ext cx="91440" cy="9144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2" name="Text 20"/>
          <p:cNvSpPr/>
          <p:nvPr/>
        </p:nvSpPr>
        <p:spPr>
          <a:xfrm>
            <a:off x="4690872" y="276148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zones and routes account for a disproportionate share of average delay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3749040"/>
            <a:ext cx="91440" cy="9144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4" name="Text 22"/>
          <p:cNvSpPr/>
          <p:nvPr/>
        </p:nvSpPr>
        <p:spPr>
          <a:xfrm>
            <a:off x="4690872" y="363016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% trends fluctuate month to month, useful for seasonal planning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4617720"/>
            <a:ext cx="91440" cy="9144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44988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trains sustain high ON Time % while a few routes need targeted attention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5486400"/>
            <a:ext cx="91440" cy="9144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8" name="Text 26"/>
          <p:cNvSpPr/>
          <p:nvPr/>
        </p:nvSpPr>
        <p:spPr>
          <a:xfrm>
            <a:off x="4690872" y="53675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revenue with delay data surfaces high-value routes at operational risk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1234440"/>
            <a:ext cx="3703320" cy="5120640"/>
          </a:xfrm>
          <a:prstGeom prst="roundRect">
            <a:avLst>
              <a:gd name="adj" fmla="val 2469"/>
            </a:avLst>
          </a:prstGeom>
          <a:solidFill>
            <a:srgbClr val="EAF2F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0" y="1965960"/>
            <a:ext cx="365760" cy="36576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198424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2350008"/>
            <a:ext cx="0" cy="256032"/>
          </a:xfrm>
          <a:prstGeom prst="line">
            <a:avLst/>
          </a:prstGeom>
          <a:noFill/>
          <a:ln w="19050">
            <a:solidFill>
              <a:srgbClr val="0B3D62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2606040"/>
            <a:ext cx="365760" cy="36576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32520" y="262432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design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12480" y="2990088"/>
            <a:ext cx="0" cy="256032"/>
          </a:xfrm>
          <a:prstGeom prst="line">
            <a:avLst/>
          </a:prstGeom>
          <a:noFill/>
          <a:ln w="19050">
            <a:solidFill>
              <a:srgbClr val="0B3D62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3246120"/>
            <a:ext cx="365760" cy="36576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732520" y="32644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data cleaning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12480" y="3630168"/>
            <a:ext cx="0" cy="256032"/>
          </a:xfrm>
          <a:prstGeom prst="line">
            <a:avLst/>
          </a:prstGeom>
          <a:noFill/>
          <a:ln w="19050">
            <a:solidFill>
              <a:srgbClr val="0B3D62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3886200"/>
            <a:ext cx="365760" cy="36576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32520" y="390448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connectivity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12480" y="4270248"/>
            <a:ext cx="0" cy="256032"/>
          </a:xfrm>
          <a:prstGeom prst="line">
            <a:avLst/>
          </a:prstGeom>
          <a:noFill/>
          <a:ln w="19050">
            <a:solidFill>
              <a:srgbClr val="0B3D62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0" y="4526280"/>
            <a:ext cx="365760" cy="36576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732520" y="454456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12480" y="4910328"/>
            <a:ext cx="0" cy="256032"/>
          </a:xfrm>
          <a:prstGeom prst="line">
            <a:avLst/>
          </a:prstGeom>
          <a:noFill/>
          <a:ln w="19050">
            <a:solidFill>
              <a:srgbClr val="0B3D62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0" y="5166360"/>
            <a:ext cx="365760" cy="36576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732520" y="518464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412480" y="5550408"/>
            <a:ext cx="0" cy="256032"/>
          </a:xfrm>
          <a:prstGeom prst="line">
            <a:avLst/>
          </a:prstGeom>
          <a:noFill/>
          <a:ln w="19050">
            <a:solidFill>
              <a:srgbClr val="0B3D62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29600" y="5806440"/>
            <a:ext cx="365760" cy="36576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56" name="Text 54"/>
          <p:cNvSpPr/>
          <p:nvPr/>
        </p:nvSpPr>
        <p:spPr>
          <a:xfrm>
            <a:off x="8229600" y="5806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732520" y="582472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Performance &amp; Delay Command Center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B3D6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E8720C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Performance &amp; Delay Command Center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2194560"/>
          </a:xfrm>
          <a:prstGeom prst="roundRect">
            <a:avLst>
              <a:gd name="adj" fmla="val 5000"/>
            </a:avLst>
          </a:prstGeom>
          <a:solidFill>
            <a:srgbClr val="0B3D62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697480"/>
            <a:ext cx="640080" cy="64008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57400" y="2697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057400" y="3200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code, MySQL scripts, ETL queries, DAX measures &amp; documentation: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57400" y="3657600"/>
            <a:ext cx="7955280" cy="594360"/>
          </a:xfrm>
          <a:prstGeom prst="roundRect">
            <a:avLst>
              <a:gd name="adj" fmla="val 15385"/>
            </a:avLst>
          </a:prstGeom>
          <a:solidFill>
            <a:srgbClr val="082A46"/>
          </a:solidFill>
          <a:ln w="15875">
            <a:solidFill>
              <a:srgbClr val="E872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6576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[ Paste your GitHub repository link here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•   [Email / Contact]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2026-08-25T15:48:29Z</dcterms:created>
  <dcterms:modified xsi:type="dcterms:W3CDTF">2026-08-25T15:48:29Z</dcterms:modified>
</cp:coreProperties>
</file>